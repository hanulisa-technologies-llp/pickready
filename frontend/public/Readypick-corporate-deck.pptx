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aa55f4c82544d1" /><Relationship Type="http://schemas.openxmlformats.org/officeDocument/2006/relationships/extended-properties" Target="/docProps/app.xml" Id="R447878a0b592484e" /><Relationship Type="http://schemas.openxmlformats.org/officeDocument/2006/relationships/officeDocument" Target="/ppt/presentation.xml" Id="R6f40a7b201a140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e12b9709d947df"/>
  </p:sldMasterIdLst>
  <p:notesMasterIdLst>
    <p:notesMasterId xmlns:r="http://schemas.openxmlformats.org/officeDocument/2006/relationships" r:id="R4118f0aa91024921"/>
  </p:notesMasterIdLst>
  <p:sldIdLst>
    <p:sldId xmlns:r="http://schemas.openxmlformats.org/officeDocument/2006/relationships" id="256" r:id="R791b7d04cb944175"/>
    <p:sldId xmlns:r="http://schemas.openxmlformats.org/officeDocument/2006/relationships" id="257" r:id="Re6aa1ef7dd154bf1"/>
    <p:sldId xmlns:r="http://schemas.openxmlformats.org/officeDocument/2006/relationships" id="258" r:id="R400289e2eaad4c21"/>
    <p:sldId xmlns:r="http://schemas.openxmlformats.org/officeDocument/2006/relationships" id="259" r:id="R8049b15b20e042d0"/>
    <p:sldId xmlns:r="http://schemas.openxmlformats.org/officeDocument/2006/relationships" id="260" r:id="R4084163fd545477a"/>
    <p:sldId xmlns:r="http://schemas.openxmlformats.org/officeDocument/2006/relationships" id="261" r:id="Rc69b4f3826e748cd"/>
    <p:sldId xmlns:r="http://schemas.openxmlformats.org/officeDocument/2006/relationships" id="262" r:id="Rdd4fa81e464544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a0e211cbed48ff" /><Relationship Type="http://schemas.openxmlformats.org/officeDocument/2006/relationships/slideMaster" Target="/ppt/slideMasters/slideMaster1.xml" Id="Rcce12b9709d947df" /><Relationship Type="http://schemas.openxmlformats.org/officeDocument/2006/relationships/notesMaster" Target="/ppt/notesMasters/notesMaster1.xml" Id="R4118f0aa91024921" /><Relationship Type="http://schemas.openxmlformats.org/officeDocument/2006/relationships/presProps" Target="/ppt/presProps.xml" Id="R9a802c220df74cd6" /><Relationship Type="http://schemas.openxmlformats.org/officeDocument/2006/relationships/tableStyles" Target="/ppt/tableStyles.xml" Id="Rc595cfcacce64542" /><Relationship Type="http://schemas.openxmlformats.org/officeDocument/2006/relationships/slide" Target="/ppt/slides/slide1.xml" Id="R791b7d04cb944175" /><Relationship Type="http://schemas.openxmlformats.org/officeDocument/2006/relationships/slide" Target="/ppt/slides/slide2.xml" Id="Re6aa1ef7dd154bf1" /><Relationship Type="http://schemas.openxmlformats.org/officeDocument/2006/relationships/slide" Target="/ppt/slides/slide3.xml" Id="R400289e2eaad4c21" /><Relationship Type="http://schemas.openxmlformats.org/officeDocument/2006/relationships/slide" Target="/ppt/slides/slide4.xml" Id="R8049b15b20e042d0" /><Relationship Type="http://schemas.openxmlformats.org/officeDocument/2006/relationships/slide" Target="/ppt/slides/slide5.xml" Id="R4084163fd545477a" /><Relationship Type="http://schemas.openxmlformats.org/officeDocument/2006/relationships/slide" Target="/ppt/slides/slide6.xml" Id="Rc69b4f3826e748cd" /><Relationship Type="http://schemas.openxmlformats.org/officeDocument/2006/relationships/slide" Target="/ppt/slides/slide7.xml" Id="Rdd4fa81e464544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36898c5d6443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c7144b393a4175" /><Relationship Type="http://schemas.openxmlformats.org/officeDocument/2006/relationships/notesMaster" Target="/ppt/notesMasters/notesMaster1.xml" Id="R9049e3dc1c8147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31da04bd8e4b39" /><Relationship Type="http://schemas.openxmlformats.org/officeDocument/2006/relationships/notesMaster" Target="/ppt/notesMasters/notesMaster1.xml" Id="R40e555c8586e49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2bc7ac60ef4b22" /><Relationship Type="http://schemas.openxmlformats.org/officeDocument/2006/relationships/notesMaster" Target="/ppt/notesMasters/notesMaster1.xml" Id="Re8262c24a2344d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187e7fb45148fc" /><Relationship Type="http://schemas.openxmlformats.org/officeDocument/2006/relationships/notesMaster" Target="/ppt/notesMasters/notesMaster1.xml" Id="R15035836a8a74a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c8e32b51b941d6" /><Relationship Type="http://schemas.openxmlformats.org/officeDocument/2006/relationships/notesMaster" Target="/ppt/notesMasters/notesMaster1.xml" Id="R728fd108b5a34d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e4064e6b334fc8" /><Relationship Type="http://schemas.openxmlformats.org/officeDocument/2006/relationships/notesMaster" Target="/ppt/notesMasters/notesMaster1.xml" Id="R11bcaeecc4cd44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18a7b707ce43f9" /><Relationship Type="http://schemas.openxmlformats.org/officeDocument/2006/relationships/notesMaster" Target="/ppt/notesMasters/notesMaster1.xml" Id="Rfc8a7eb9f9e244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specification: new-killer-spec.docx</a:t>
            </a:r>
          </a:p>
          <a:p xmlns:a="http://schemas.openxmlformats.org/drawingml/2006/main">
            <a:r>
              <a:t>- PickReady product implementation and locally captured product UI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specification: new-killer-spec.docx</a:t>
            </a:r>
          </a:p>
          <a:p xmlns:a="http://schemas.openxmlformats.org/drawingml/2006/main">
            <a:r>
              <a:t>- PickReady product implementation and locally captured product UI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specification: new-killer-spec.docx</a:t>
            </a:r>
          </a:p>
          <a:p xmlns:a="http://schemas.openxmlformats.org/drawingml/2006/main">
            <a:r>
              <a:t>- PickReady product implementation and locally captured product UI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specification: new-killer-spec.docx</a:t>
            </a:r>
          </a:p>
          <a:p xmlns:a="http://schemas.openxmlformats.org/drawingml/2006/main">
            <a:r>
              <a:t>- PickReady product implementation and locally captured product UI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specification: new-killer-spec.docx</a:t>
            </a:r>
          </a:p>
          <a:p xmlns:a="http://schemas.openxmlformats.org/drawingml/2006/main">
            <a:r>
              <a:t>- PickReady product implementation and locally captured product UI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specification: new-killer-spec.docx</a:t>
            </a:r>
          </a:p>
          <a:p xmlns:a="http://schemas.openxmlformats.org/drawingml/2006/main">
            <a:r>
              <a:t>- PickReady product implementation and locally captured product UI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specification: new-killer-spec.docx</a:t>
            </a:r>
          </a:p>
          <a:p xmlns:a="http://schemas.openxmlformats.org/drawingml/2006/main">
            <a:r>
              <a:t>- PickReady product implementation and locally captured product UI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84e12b7a1840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a78ef9646548c4" /><Relationship Type="http://schemas.openxmlformats.org/officeDocument/2006/relationships/slideLayout" Target="/ppt/slideLayouts/slideLayout1.xml" Id="R3eded9093feb42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ded9093feb42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1bf2f85f24a83" /><Relationship Type="http://schemas.openxmlformats.org/officeDocument/2006/relationships/image" Target="/ppt/media/image.png" Id="R87b816cd03a948c8" /><Relationship Type="http://schemas.openxmlformats.org/officeDocument/2006/relationships/notesSlide" Target="/ppt/notesSlides/notesSlide1.xml" Id="R607bbe53c64543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84fc9c79e4136" /><Relationship Type="http://schemas.openxmlformats.org/officeDocument/2006/relationships/image" Target="/ppt/media/image2.png" Id="Rdb3968443b5d4d20" /><Relationship Type="http://schemas.openxmlformats.org/officeDocument/2006/relationships/notesSlide" Target="/ppt/notesSlides/notesSlide2.xml" Id="R87dd469a6ff444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f8fd970d14547" /><Relationship Type="http://schemas.openxmlformats.org/officeDocument/2006/relationships/image" Target="/ppt/media/image3.png" Id="Rf9c92ccb979f4413" /><Relationship Type="http://schemas.openxmlformats.org/officeDocument/2006/relationships/notesSlide" Target="/ppt/notesSlides/notesSlide3.xml" Id="R4752f86ea07644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3ced68ab04004" /><Relationship Type="http://schemas.openxmlformats.org/officeDocument/2006/relationships/image" Target="/ppt/media/image4.png" Id="R91f868da9dfa48d9" /><Relationship Type="http://schemas.openxmlformats.org/officeDocument/2006/relationships/notesSlide" Target="/ppt/notesSlides/notesSlide4.xml" Id="R980bf347e8174c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1b6a6e6034aa7" /><Relationship Type="http://schemas.openxmlformats.org/officeDocument/2006/relationships/image" Target="/ppt/media/image5.png" Id="R7ec0a6aed63a4e9d" /><Relationship Type="http://schemas.openxmlformats.org/officeDocument/2006/relationships/image" Target="/ppt/media/image.jpeg" Id="R9ce06e4ba3c94850" /><Relationship Type="http://schemas.openxmlformats.org/officeDocument/2006/relationships/notesSlide" Target="/ppt/notesSlides/notesSlide5.xml" Id="R431fb5be99554c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21c1ef87d44bf" /><Relationship Type="http://schemas.openxmlformats.org/officeDocument/2006/relationships/image" Target="/ppt/media/image6.png" Id="Rc950eadd47e14b15" /><Relationship Type="http://schemas.openxmlformats.org/officeDocument/2006/relationships/notesSlide" Target="/ppt/notesSlides/notesSlide6.xml" Id="R23f6bc63425341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27cb7b2ed44db" /><Relationship Type="http://schemas.openxmlformats.org/officeDocument/2006/relationships/image" Target="/ppt/media/image7.png" Id="Rd5575991d4f84c75" /><Relationship Type="http://schemas.openxmlformats.org/officeDocument/2006/relationships/notesSlide" Target="/ppt/notesSlides/notesSlide7.xml" Id="R82c4663ca5c649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816cd03a948c8"/>
          <a:stretch xmlns:a="http://schemas.openxmlformats.org/drawingml/2006/main"/>
        </p:blipFill>
        <p:spPr>
          <a:xfrm xmlns:a="http://schemas.openxmlformats.org/drawingml/2006/main">
            <a:off x="685800" y="4000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71B83060-624A-412A-AF54-21F989DF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67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B20"/>
                </a:solidFill>
              </a:defRPr>
            </a:pPr>
            <a:r>
              <a:rPr sz="1800" b="1">
                <a:solidFill>
                  <a:srgbClr val="090B20"/>
                </a:solidFill>
              </a:rPr>
              <a:t>Readypick.ai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3B67D5-0031-4C1E-B4EF-66DD6A37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620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90B20"/>
                </a:solidFill>
              </a:defRPr>
            </a:pPr>
            <a:r>
              <a:rPr sz="4200" b="1">
                <a:solidFill>
                  <a:srgbClr val="090B20"/>
                </a:solidFill>
              </a:rPr>
              <a:t>Know every candidate</a:t>
            </a:r>
          </a:p>
          <a:p xmlns:a="http://schemas.openxmlformats.org/drawingml/2006/main">
            <a:pPr>
              <a:defRPr sz="4200" b="1">
                <a:solidFill>
                  <a:srgbClr val="090B20"/>
                </a:solidFill>
              </a:defRPr>
            </a:pPr>
            <a:r>
              <a:rPr sz="4200" b="1">
                <a:solidFill>
                  <a:srgbClr val="090B20"/>
                </a:solidFill>
              </a:rPr>
              <a:t>before you meet them.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BC95050-8AE9-40CD-9D4E-BB958A9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657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25F72"/>
                </a:solidFill>
              </a:defRPr>
            </a:pPr>
            <a:r>
              <a:rPr sz="1800">
                <a:solidFill>
                  <a:srgbClr val="625F72"/>
                </a:solidFill>
              </a:rPr>
              <a:t>AI-assisted profile discovery, evidence-led assessment and one decision-ready PFI report.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5C1A1-6A8E-45AC-B55E-CE1769FB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3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ositioning">
            <a:extLst xmlns:a="http://schemas.openxmlformats.org/drawingml/2006/main">
              <a:ext uri="{FF2B5EF4-FFF2-40B4-BE49-F238E27FC236}">
                <a16:creationId xmlns:a16="http://schemas.microsoft.com/office/drawing/2014/main" id="{FD83FA6F-4F5A-4901-9E77-46C6A62F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30E5"/>
                </a:solidFill>
              </a:defRPr>
            </a:pPr>
            <a:r>
              <a:rPr sz="1500" b="1">
                <a:solidFill>
                  <a:srgbClr val="6330E5"/>
                </a:solidFill>
              </a:rPr>
              <a:t>Executive Search Inspired Profiles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65A579B-53CB-4B3C-AED8-855E6E08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5F72"/>
                </a:solidFill>
              </a:defRPr>
            </a:pPr>
            <a:r>
              <a:rPr sz="900">
                <a:solidFill>
                  <a:srgbClr val="625F72"/>
                </a:solidFill>
              </a:rPr>
              <a:t>Readypick.ai  •  The candidate is yours, rest is on us!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FF05FD-6612-41C4-B9D4-D377F258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5F72"/>
                </a:solidFill>
              </a:defRPr>
            </a:pPr>
            <a:r>
              <a:rPr sz="900" b="1">
                <a:solidFill>
                  <a:srgbClr val="625F7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8654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968443b5d4d20"/>
          <a:stretch xmlns:a="http://schemas.openxmlformats.org/drawingml/2006/main"/>
        </p:blipFill>
        <p:spPr>
          <a:xfrm xmlns:a="http://schemas.openxmlformats.org/drawingml/2006/main">
            <a:off x="685800" y="4000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D4160517-4374-48D5-8566-D4F6E73F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67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Readypick.ai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139800-5A2E-4AF4-BBB8-247AF708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More activity does not create a better decision.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0A9AE5-60FF-4743-B22C-749F844B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5CF6"/>
                </a:solidFill>
              </a:defRPr>
            </a:pPr>
            <a:r>
              <a:rPr sz="1350" b="1">
                <a:solidFill>
                  <a:srgbClr val="8B5CF6"/>
                </a:solidFill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038AE00-C37C-4809-8FC8-431C92D4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Disconnected evidence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316328-07A8-4ACF-AF01-75B489F2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432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2E7"/>
                </a:solidFill>
              </a:defRPr>
            </a:pPr>
            <a:r>
              <a:rPr sz="1350">
                <a:solidFill>
                  <a:srgbClr val="D7D2E7"/>
                </a:solidFill>
              </a:rPr>
              <a:t>Resumes, assessments and interview notes live in different places.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68F9E-BD86-43D1-8D57-075B24C1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7568EBA-4D90-4C6A-83A2-C932E52B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5CF6"/>
                </a:solidFill>
              </a:defRPr>
            </a:pPr>
            <a:r>
              <a:rPr sz="1350" b="1">
                <a:solidFill>
                  <a:srgbClr val="8B5CF6"/>
                </a:solidFill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CC7145A-7988-4DF8-A801-736C8B97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Opaque ranking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0A434D-31C8-4E58-A24A-05A3B438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338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2E7"/>
                </a:solidFill>
              </a:defRPr>
            </a:pPr>
            <a:r>
              <a:rPr sz="1350">
                <a:solidFill>
                  <a:srgbClr val="D7D2E7"/>
                </a:solidFill>
              </a:rPr>
              <a:t>A score without a reason gives the panel nothing useful to verify.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DABAF-86E1-4AEB-A735-68DDE956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960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922A700-1608-498B-A6C9-652F49E8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5CF6"/>
                </a:solidFill>
              </a:defRPr>
            </a:pPr>
            <a:r>
              <a:rPr sz="1350" b="1">
                <a:solidFill>
                  <a:srgbClr val="8B5CF6"/>
                </a:solidFill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D6C64B7-132C-48BF-B0E7-01CB14DA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05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Administrative drag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DBD70FD-8401-4C15-915C-79A3530B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244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2E7"/>
                </a:solidFill>
              </a:defRPr>
            </a:pPr>
            <a:r>
              <a:rPr sz="1350">
                <a:solidFill>
                  <a:srgbClr val="D7D2E7"/>
                </a:solidFill>
              </a:rPr>
              <a:t>Teams repeat drafting, screening and follow-up work for every role.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B81027BB-BD5C-4C42-937C-FE754E85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8C2DF"/>
                </a:solidFill>
              </a:defRPr>
            </a:pPr>
            <a:r>
              <a:rPr sz="900">
                <a:solidFill>
                  <a:srgbClr val="C8C2DF"/>
                </a:solidFill>
              </a:rPr>
              <a:t>Readypick.ai  •  The candidate is yours, rest is on us!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751A01-C941-4677-90A5-2B6F1A06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C2DF"/>
                </a:solidFill>
              </a:defRPr>
            </a:pPr>
            <a:r>
              <a:rPr sz="900" b="1">
                <a:solidFill>
                  <a:srgbClr val="C8C2D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36434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92ccb979f4413"/>
          <a:stretch xmlns:a="http://schemas.openxmlformats.org/drawingml/2006/main"/>
        </p:blipFill>
        <p:spPr>
          <a:xfrm xmlns:a="http://schemas.openxmlformats.org/drawingml/2006/main">
            <a:off x="685800" y="4000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0108A6F9-A179-402C-9AC1-73D54BA4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67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B20"/>
                </a:solidFill>
              </a:defRPr>
            </a:pPr>
            <a:r>
              <a:rPr sz="1800" b="1">
                <a:solidFill>
                  <a:srgbClr val="090B20"/>
                </a:solidFill>
              </a:rPr>
              <a:t>Readypick.ai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4839B6-883A-499A-A357-E0C5F0EB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66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90B20"/>
                </a:solidFill>
              </a:defRPr>
            </a:pPr>
            <a:r>
              <a:rPr sz="3150" b="1">
                <a:solidFill>
                  <a:srgbClr val="090B20"/>
                </a:solidFill>
              </a:rPr>
              <a:t>One evidence trail, from role to decision.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5E73168-0E9C-4ECF-A4CD-F76A036B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25F72"/>
                </a:solidFill>
              </a:defRPr>
            </a:pPr>
            <a:r>
              <a:rPr sz="1575">
                <a:solidFill>
                  <a:srgbClr val="625F72"/>
                </a:solidFill>
              </a:rPr>
              <a:t>The system carries the work. Your team keeps the judgment.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829A3-2835-4868-BE83-7F347A98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967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984BC-1DCA-47ED-AFCE-C9A06364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95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D7EC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89225E5-7E5B-4A51-989F-9FB18A90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330E5"/>
                </a:solidFill>
              </a:defRPr>
            </a:pPr>
            <a:r>
              <a:rPr sz="975" b="1">
                <a:solidFill>
                  <a:srgbClr val="6330E5"/>
                </a:solidFill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373A187-C86E-440B-B516-FB2DA7E1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0B20"/>
                </a:solidFill>
              </a:defRPr>
            </a:pPr>
            <a:r>
              <a:rPr sz="1500" b="1">
                <a:solidFill>
                  <a:srgbClr val="090B20"/>
                </a:solidFill>
              </a:rPr>
              <a:t>Define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399E37E-E783-4CA7-BBE7-22CB679E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25F72"/>
                </a:solidFill>
              </a:defRPr>
            </a:pPr>
            <a:r>
              <a:rPr sz="1125">
                <a:solidFill>
                  <a:srgbClr val="625F72"/>
                </a:solidFill>
              </a:rPr>
              <a:t>Role 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DB3CC-6D08-44AF-8516-D8EA7DE2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95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D7EC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5BA83D0-B9B0-4CFB-9AC4-786D2340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19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330E5"/>
                </a:solidFill>
              </a:defRPr>
            </a:pPr>
            <a:r>
              <a:rPr sz="975" b="1">
                <a:solidFill>
                  <a:srgbClr val="6330E5"/>
                </a:solidFill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AA62498-41E9-47D4-AA2F-55FDB8C7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48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0B20"/>
                </a:solidFill>
              </a:defRPr>
            </a:pPr>
            <a:r>
              <a:rPr sz="1500" b="1">
                <a:solidFill>
                  <a:srgbClr val="090B20"/>
                </a:solidFill>
              </a:rPr>
              <a:t>Discover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25CC188-8A0E-4C81-AF75-2AFC450D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29150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25F72"/>
                </a:solidFill>
              </a:defRPr>
            </a:pPr>
            <a:r>
              <a:rPr sz="1125">
                <a:solidFill>
                  <a:srgbClr val="625F72"/>
                </a:solidFill>
              </a:rPr>
              <a:t>Applied, sourced, databank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99B7C-E80E-47ED-B44C-65657F6A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D7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0EDF226-80B1-42AF-9A8E-14C7D12A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19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330E5"/>
                </a:solidFill>
              </a:defRPr>
            </a:pPr>
            <a:r>
              <a:rPr sz="975" b="1">
                <a:solidFill>
                  <a:srgbClr val="6330E5"/>
                </a:solidFill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AD4EAA6-E988-4C2E-9A82-9EAB6FA6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48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0B20"/>
                </a:solidFill>
              </a:defRPr>
            </a:pPr>
            <a:r>
              <a:rPr sz="1500" b="1">
                <a:solidFill>
                  <a:srgbClr val="090B20"/>
                </a:solidFill>
              </a:rPr>
              <a:t>Match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E1C38C9-96EF-4CAE-922E-FC7C950C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25F72"/>
                </a:solidFill>
              </a:defRPr>
            </a:pPr>
            <a:r>
              <a:rPr sz="1125">
                <a:solidFill>
                  <a:srgbClr val="625F72"/>
                </a:solidFill>
              </a:rPr>
              <a:t>Evidence against the job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C8E5C-5A6B-4B69-8A27-F78E485D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95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D7E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635BFF0-3748-45EB-8499-1A975584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330E5"/>
                </a:solidFill>
              </a:defRPr>
            </a:pPr>
            <a:r>
              <a:rPr sz="975" b="1">
                <a:solidFill>
                  <a:srgbClr val="6330E5"/>
                </a:solidFill>
              </a:rPr>
              <a:t>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8CF0A44-3523-46A5-A52E-40B32F47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48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0B20"/>
                </a:solidFill>
              </a:defRPr>
            </a:pPr>
            <a:r>
              <a:rPr sz="1500" b="1">
                <a:solidFill>
                  <a:srgbClr val="090B20"/>
                </a:solidFill>
              </a:rPr>
              <a:t>Assess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5562E4E-70C1-4275-BFED-E7B0E12B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29150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25F72"/>
                </a:solidFill>
              </a:defRPr>
            </a:pPr>
            <a:r>
              <a:rPr sz="1125">
                <a:solidFill>
                  <a:srgbClr val="625F72"/>
                </a:solidFill>
              </a:rPr>
              <a:t>Role-shaped questions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2928E-1BF8-4336-9AC7-11C27D9F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95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30E5"/>
          </a:solidFill>
          <a:ln xmlns:a="http://schemas.openxmlformats.org/drawingml/2006/main" w="19050">
            <a:solidFill>
              <a:srgbClr val="6330E5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8B61855-C1D1-4BBF-A626-EDDDE248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A2CA8B0-CBA6-4E14-8D87-2F8A6050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0B20"/>
                </a:solidFill>
              </a:defRPr>
            </a:pPr>
            <a:r>
              <a:rPr sz="1500" b="1">
                <a:solidFill>
                  <a:srgbClr val="090B20"/>
                </a:solidFill>
              </a:rPr>
              <a:t>Understand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1A1F7E9-F312-453D-AD22-9EFCF218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25F72"/>
                </a:solidFill>
              </a:defRPr>
            </a:pPr>
            <a:r>
              <a:rPr sz="1125">
                <a:solidFill>
                  <a:srgbClr val="625F72"/>
                </a:solidFill>
              </a:rPr>
              <a:t>PFI 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F0EA0-32C4-4E77-B504-C8043589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95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D7EC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53280A6-AE77-4E6D-AF4F-24A5664D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19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330E5"/>
                </a:solidFill>
              </a:defRPr>
            </a:pPr>
            <a:r>
              <a:rPr sz="975" b="1">
                <a:solidFill>
                  <a:srgbClr val="6330E5"/>
                </a:solidFill>
              </a:rPr>
              <a:t>06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0EFF7CD-8BEA-4514-94B0-0A5D6F21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48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0B20"/>
                </a:solidFill>
              </a:defRPr>
            </a:pPr>
            <a:r>
              <a:rPr sz="1500" b="1">
                <a:solidFill>
                  <a:srgbClr val="090B20"/>
                </a:solidFill>
              </a:rPr>
              <a:t>Decide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041FAEC-6D25-47FE-9BBC-74E33854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29150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25F72"/>
                </a:solidFill>
              </a:defRPr>
            </a:pPr>
            <a:r>
              <a:rPr sz="1125">
                <a:solidFill>
                  <a:srgbClr val="625F72"/>
                </a:solidFill>
              </a:rPr>
              <a:t>Human call, clear trail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FC1D4177-0932-4DB7-B86C-848A7495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5F72"/>
                </a:solidFill>
              </a:defRPr>
            </a:pPr>
            <a:r>
              <a:rPr sz="900">
                <a:solidFill>
                  <a:srgbClr val="625F72"/>
                </a:solidFill>
              </a:rPr>
              <a:t>Readypick.ai  •  The candidate is yours, rest is on us!</a:t>
            </a:r>
          </a:p>
        </p:txBody>
      </p:sp>
      <p:sp>
        <p:nvSpPr>
          <p:cNvPr id="3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99D1F4-CD90-484C-9EF6-D2753D0F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5F72"/>
                </a:solidFill>
              </a:defRPr>
            </a:pPr>
            <a:r>
              <a:rPr sz="900" b="1">
                <a:solidFill>
                  <a:srgbClr val="625F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2135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868da9dfa48d9"/>
          <a:stretch xmlns:a="http://schemas.openxmlformats.org/drawingml/2006/main"/>
        </p:blipFill>
        <p:spPr>
          <a:xfrm xmlns:a="http://schemas.openxmlformats.org/drawingml/2006/main">
            <a:off x="685800" y="4000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7D9EF628-3124-4B14-B602-69C60245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67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B20"/>
                </a:solidFill>
              </a:defRPr>
            </a:pPr>
            <a:r>
              <a:rPr sz="1800" b="1">
                <a:solidFill>
                  <a:srgbClr val="090B20"/>
                </a:solidFill>
              </a:rPr>
              <a:t>Readypick.ai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85BF02-FD63-4827-A39C-966AFF36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90B20"/>
                </a:solidFill>
              </a:defRPr>
            </a:pPr>
            <a:r>
              <a:rPr sz="3150" b="1">
                <a:solidFill>
                  <a:srgbClr val="090B20"/>
                </a:solidFill>
              </a:rPr>
              <a:t>PFI turns signals into a profile people can use.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D99C326-6296-417C-9043-CF6E1385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25F72"/>
                </a:solidFill>
              </a:defRPr>
            </a:pPr>
            <a:r>
              <a:rPr sz="1575">
                <a:solidFill>
                  <a:srgbClr val="625F72"/>
                </a:solidFill>
              </a:rPr>
              <a:t>PickReady Fit Intelligence connects four kinds of evidence without hiding the decision behind a number.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F16CB-4F82-46A4-BCFE-3278A6C3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133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3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120712A-DB99-4077-BCA0-115A11CC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B20"/>
                </a:solidFill>
              </a:defRPr>
            </a:pPr>
            <a:r>
              <a:rPr sz="1800" b="1">
                <a:solidFill>
                  <a:srgbClr val="090B20"/>
                </a:solidFill>
              </a:rPr>
              <a:t>Role match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B030E77-F9AA-4BC8-8762-FA5F57F0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2209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25F72"/>
                </a:solidFill>
              </a:defRPr>
            </a:pPr>
            <a:r>
              <a:rPr sz="1275">
                <a:solidFill>
                  <a:srgbClr val="625F72"/>
                </a:solidFill>
              </a:rPr>
              <a:t>Skills, experience, role alignment and education against the live job.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B828C-2213-4A39-B6EF-3CCFE7B8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2133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5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3421F71-AA1A-4DD6-BCD0-7D0A77AB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B20"/>
                </a:solidFill>
              </a:defRPr>
            </a:pPr>
            <a:r>
              <a:rPr sz="1800" b="1">
                <a:solidFill>
                  <a:srgbClr val="090B20"/>
                </a:solidFill>
              </a:rPr>
              <a:t>Behaviour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78B08FA-2811-4523-A8FF-978927D3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2209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25F72"/>
                </a:solidFill>
              </a:defRPr>
            </a:pPr>
            <a:r>
              <a:rPr sz="1275">
                <a:solidFill>
                  <a:srgbClr val="625F72"/>
                </a:solidFill>
              </a:rPr>
              <a:t>Structured signals in clear rating bands with readable remarks.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E7B61-EF0F-4ADC-9FFC-A6D71B4E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2133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9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7BECC83-1CA3-4959-9E68-3A3736A9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718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B20"/>
                </a:solidFill>
              </a:defRPr>
            </a:pPr>
            <a:r>
              <a:rPr sz="1800" b="1">
                <a:solidFill>
                  <a:srgbClr val="090B20"/>
                </a:solidFill>
              </a:rPr>
              <a:t>Technical depth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43FDB9E-0F5B-4B7E-BA55-F83F760B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43350"/>
            <a:ext cx="2209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25F72"/>
                </a:solidFill>
              </a:defRPr>
            </a:pPr>
            <a:r>
              <a:rPr sz="1275">
                <a:solidFill>
                  <a:srgbClr val="625F72"/>
                </a:solidFill>
              </a:rPr>
              <a:t>Questions generated from the role and assessed with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96617-8F0E-4FF2-8A46-18858E33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48000"/>
            <a:ext cx="2133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5B69CC9-A653-4990-880D-AB6B52E9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718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B20"/>
                </a:solidFill>
              </a:defRPr>
            </a:pPr>
            <a:r>
              <a:rPr sz="1800" b="1">
                <a:solidFill>
                  <a:srgbClr val="090B20"/>
                </a:solidFill>
              </a:rPr>
              <a:t>Validation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5E6ED4-4850-4809-862D-34A82C37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43350"/>
            <a:ext cx="2209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25F72"/>
                </a:solidFill>
              </a:defRPr>
            </a:pPr>
            <a:r>
              <a:rPr sz="1275">
                <a:solidFill>
                  <a:srgbClr val="625F72"/>
                </a:solidFill>
              </a:rPr>
              <a:t>Team remarks, prior-employer inputs and focused interview probes.</a:t>
            </a:r>
          </a:p>
        </p:txBody>
      </p:sp>
      <p:sp>
        <p:nvSpPr>
          <p:cNvPr id="17" name="pfi-summary">
            <a:extLst xmlns:a="http://schemas.openxmlformats.org/drawingml/2006/main">
              <a:ext uri="{FF2B5EF4-FFF2-40B4-BE49-F238E27FC236}">
                <a16:creationId xmlns:a16="http://schemas.microsoft.com/office/drawing/2014/main" id="{9B579837-89A6-46E8-9713-CBE0E317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330E5"/>
                </a:solidFill>
              </a:defRPr>
            </a:pPr>
            <a:r>
              <a:rPr sz="1350" b="1">
                <a:solidFill>
                  <a:srgbClr val="6330E5"/>
                </a:solidFill>
              </a:rPr>
              <a:t>Plain-language ratings  •  Evidence-linked remarks  •  Suggested probes  •  Human-controlled outcomes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780F80A5-CE38-4F61-B55B-8197A13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5F72"/>
                </a:solidFill>
              </a:defRPr>
            </a:pPr>
            <a:r>
              <a:rPr sz="900">
                <a:solidFill>
                  <a:srgbClr val="625F72"/>
                </a:solidFill>
              </a:rPr>
              <a:t>Readypick.ai  •  The candidate is yours, rest is on us!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39116C-C51E-4951-87B0-5EF795FB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5F72"/>
                </a:solidFill>
              </a:defRPr>
            </a:pPr>
            <a:r>
              <a:rPr sz="900" b="1">
                <a:solidFill>
                  <a:srgbClr val="625F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47786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0a6aed63a4e9d"/>
          <a:stretch xmlns:a="http://schemas.openxmlformats.org/drawingml/2006/main"/>
        </p:blipFill>
        <p:spPr>
          <a:xfrm xmlns:a="http://schemas.openxmlformats.org/drawingml/2006/main">
            <a:off x="685800" y="4000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ACD9740B-4BFC-4AF0-944D-5BFADCCE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67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Readypick.ai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75E8A8-3FD3-4CBA-BD7D-1ED7E93C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The workflow is visible, not mysterious.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D6B946B-3826-4441-89A0-BA4B2697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7D2E7"/>
                </a:solidFill>
              </a:defRPr>
            </a:pPr>
            <a:r>
              <a:rPr sz="1500">
                <a:solidFill>
                  <a:srgbClr val="D7D2E7"/>
                </a:solidFill>
              </a:rPr>
              <a:t>Nine connected moments move from secure access to a communicated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06e4ba3c94850"/>
          <a:srcRect xmlns:a="http://schemas.openxmlformats.org/drawingml/2006/main" l="0" t="25500" r="0" b="25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476500"/>
            <a:ext cx="10820400" cy="3314700"/>
          </a:xfrm>
          <a:prstGeom xmlns:a="http://schemas.openxmlformats.org/drawingml/2006/main" prst="roundRect">
            <a:avLst>
              <a:gd name="adj" fmla="val 344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73B41-38E4-4BED-A4C8-42933F08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476500"/>
            <a:ext cx="952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528B705-6D37-473B-B076-0CA377F4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8C2DF"/>
                </a:solidFill>
              </a:defRPr>
            </a:pPr>
            <a:r>
              <a:rPr sz="900">
                <a:solidFill>
                  <a:srgbClr val="C8C2DF"/>
                </a:solidFill>
              </a:rPr>
              <a:t>Readypick.ai  •  The candidate is yours, rest is on us!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85EAFB-32F9-4CF1-84CC-8FE7F336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C2DF"/>
                </a:solidFill>
              </a:defRPr>
            </a:pPr>
            <a:r>
              <a:rPr sz="900" b="1">
                <a:solidFill>
                  <a:srgbClr val="C8C2D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5814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0eadd47e14b15"/>
          <a:stretch xmlns:a="http://schemas.openxmlformats.org/drawingml/2006/main"/>
        </p:blipFill>
        <p:spPr>
          <a:xfrm xmlns:a="http://schemas.openxmlformats.org/drawingml/2006/main">
            <a:off x="685800" y="4000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27E8D9E2-0345-44F4-9B5B-03AF1751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67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B20"/>
                </a:solidFill>
              </a:defRPr>
            </a:pPr>
            <a:r>
              <a:rPr sz="1800" b="1">
                <a:solidFill>
                  <a:srgbClr val="090B20"/>
                </a:solidFill>
              </a:rPr>
              <a:t>Readypick.ai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06942A-096D-4036-B204-65DCC6E0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90B20"/>
                </a:solidFill>
              </a:defRPr>
            </a:pPr>
            <a:r>
              <a:rPr sz="3150" b="1">
                <a:solidFill>
                  <a:srgbClr val="090B20"/>
                </a:solidFill>
              </a:rPr>
              <a:t>Trust is part of the operating model.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2D32532-BB56-4F88-A1BC-24DA4203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330E5"/>
                </a:solidFill>
              </a:defRPr>
            </a:pPr>
            <a:r>
              <a:rPr sz="1875" b="1">
                <a:solidFill>
                  <a:srgbClr val="6330E5"/>
                </a:solidFill>
              </a:rPr>
              <a:t>Consent with context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7DE81E-1ADE-465B-9EEA-E551A17D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5F72"/>
                </a:solidFill>
              </a:defRPr>
            </a:pPr>
            <a:r>
              <a:rPr sz="1350">
                <a:solidFill>
                  <a:srgbClr val="625F72"/>
                </a:solidFill>
              </a:rPr>
              <a:t>Candidates see why data is needed, where it is used and how to withdraw.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2B5E34-4568-49B6-858D-93F43B31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241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330E5"/>
                </a:solidFill>
              </a:defRPr>
            </a:pPr>
            <a:r>
              <a:rPr sz="1875" b="1">
                <a:solidFill>
                  <a:srgbClr val="6330E5"/>
                </a:solidFill>
              </a:rPr>
              <a:t>Workspace isolation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D223BE0-C8C1-4483-A24B-2AA75E57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004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5F72"/>
                </a:solidFill>
              </a:defRPr>
            </a:pPr>
            <a:r>
              <a:rPr sz="1350">
                <a:solidFill>
                  <a:srgbClr val="625F72"/>
                </a:solidFill>
              </a:rPr>
              <a:t>Customer information remains separated by tenant and role-based access.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252C506-894C-464D-BFEC-D07A35C8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330E5"/>
                </a:solidFill>
              </a:defRPr>
            </a:pPr>
            <a:r>
              <a:rPr sz="1875" b="1">
                <a:solidFill>
                  <a:srgbClr val="6330E5"/>
                </a:solidFill>
              </a:rPr>
              <a:t>A visible audit trail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13FB46B-69A2-4F2A-8410-14359E96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5F72"/>
                </a:solidFill>
              </a:defRPr>
            </a:pPr>
            <a:r>
              <a:rPr sz="1350">
                <a:solidFill>
                  <a:srgbClr val="625F72"/>
                </a:solidFill>
              </a:rPr>
              <a:t>Material actions, edits and sends remain attributable.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6B4B612-7A6E-42D7-9F63-9F9B1FE8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191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330E5"/>
                </a:solidFill>
              </a:defRPr>
            </a:pPr>
            <a:r>
              <a:rPr sz="1875" b="1">
                <a:solidFill>
                  <a:srgbClr val="6330E5"/>
                </a:solidFill>
              </a:rPr>
              <a:t>Messages stay human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7FF6FCA-BD9D-47A9-AFD5-87D57859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667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5F72"/>
                </a:solidFill>
              </a:defRPr>
            </a:pPr>
            <a:r>
              <a:rPr sz="1350">
                <a:solidFill>
                  <a:srgbClr val="625F72"/>
                </a:solidFill>
              </a:rPr>
              <a:t>AI drafts. A person reviews before candidate communication is sent.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BF365D55-2B86-447C-8B63-FF696C17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5F72"/>
                </a:solidFill>
              </a:defRPr>
            </a:pPr>
            <a:r>
              <a:rPr sz="900">
                <a:solidFill>
                  <a:srgbClr val="625F72"/>
                </a:solidFill>
              </a:rPr>
              <a:t>Readypick.ai  •  The candidate is yours, rest is on us!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46FF40-FF1C-4D68-A08D-CFBD2765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5F72"/>
                </a:solidFill>
              </a:defRPr>
            </a:pPr>
            <a:r>
              <a:rPr sz="900" b="1">
                <a:solidFill>
                  <a:srgbClr val="625F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30006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633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75991d4f84c75"/>
          <a:stretch xmlns:a="http://schemas.openxmlformats.org/drawingml/2006/main"/>
        </p:blipFill>
        <p:spPr>
          <a:xfrm xmlns:a="http://schemas.openxmlformats.org/drawingml/2006/main">
            <a:off x="685800" y="4000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1144B518-7A05-4759-AEC7-11D51E26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67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Readypick.ai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3B7369-F4BF-4120-B642-8A7B6899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Start with one role.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See what a better profile changes.</a:t>
            </a:r>
          </a:p>
        </p:txBody>
      </p:sp>
      <p:sp>
        <p:nvSpPr>
          <p:cNvPr id="4" name="locations">
            <a:extLst xmlns:a="http://schemas.openxmlformats.org/drawingml/2006/main">
              <a:ext uri="{FF2B5EF4-FFF2-40B4-BE49-F238E27FC236}">
                <a16:creationId xmlns:a16="http://schemas.microsoft.com/office/drawing/2014/main" id="{2DD99A60-0526-4FB9-9D2A-35EF403A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EE9FF"/>
                </a:solidFill>
              </a:defRPr>
            </a:pPr>
            <a:r>
              <a:rPr sz="1575">
                <a:solidFill>
                  <a:srgbClr val="EEE9FF"/>
                </a:solidFill>
              </a:rPr>
              <a:t>Hyderabad  •  Visakhapatnam  •  Bengaluru  •  Chennai</a:t>
            </a:r>
          </a:p>
        </p:txBody>
      </p:sp>
      <p:sp>
        <p:nvSpPr>
          <p:cNvPr id="5" name="contact">
            <a:extLst xmlns:a="http://schemas.openxmlformats.org/drawingml/2006/main">
              <a:ext uri="{FF2B5EF4-FFF2-40B4-BE49-F238E27FC236}">
                <a16:creationId xmlns:a16="http://schemas.microsoft.com/office/drawing/2014/main" id="{7A14FFFE-F67C-4988-A6C9-8EACE591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manjuchro@gmail.com</a:t>
            </a:r>
          </a:p>
        </p:txBody>
      </p:sp>
      <p:sp>
        <p:nvSpPr>
          <p:cNvPr id="6" name="company">
            <a:extLst xmlns:a="http://schemas.openxmlformats.org/drawingml/2006/main">
              <a:ext uri="{FF2B5EF4-FFF2-40B4-BE49-F238E27FC236}">
                <a16:creationId xmlns:a16="http://schemas.microsoft.com/office/drawing/2014/main" id="{3AB7C620-D06C-4F7E-857B-E39AD774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EE9FF"/>
                </a:solidFill>
              </a:defRPr>
            </a:pPr>
            <a:r>
              <a:rPr sz="1350">
                <a:solidFill>
                  <a:srgbClr val="EEE9FF"/>
                </a:solidFill>
              </a:rPr>
              <a:t>A Hanulisa Technologies LLP product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69C7F42-BB4C-48CA-8C22-CC934B44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8C2DF"/>
                </a:solidFill>
              </a:defRPr>
            </a:pPr>
            <a:r>
              <a:rPr sz="900">
                <a:solidFill>
                  <a:srgbClr val="C8C2DF"/>
                </a:solidFill>
              </a:rPr>
              <a:t>Readypick.ai  •  The candidate is yours, rest is on us!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EF1F82-E6F3-4591-8731-E81B3F6E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C2DF"/>
                </a:solidFill>
              </a:defRPr>
            </a:pPr>
            <a:r>
              <a:rPr sz="900" b="1">
                <a:solidFill>
                  <a:srgbClr val="C8C2D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02077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2026-07-29T08:04:28.4680000Z</dcterms:created>
  <dcterms:modified xsi:type="dcterms:W3CDTF">2026-07-29T08:04:28.4680000Z</dcterms:modified>
</coreProperties>
</file>